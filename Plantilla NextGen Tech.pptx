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7620000"/>
  <p:notesSz cx="6858000" cy="9144000"/>
  <p:embeddedFontLst>
    <p:embeddedFont>
      <p:font typeface="Montserrat" panose="00000500000000000000" pitchFamily="2" charset="0"/>
      <p:regular r:id="rId7"/>
    </p:embeddedFont>
    <p:embeddedFont>
      <p:font typeface="Montserrat Bold" panose="020B0604020202020204" charset="0"/>
      <p:regular r:id="rId8"/>
    </p:embeddedFont>
    <p:embeddedFont>
      <p:font typeface="Montserrat Semi-Bold" panose="020B0604020202020204" charset="0"/>
      <p:regular r:id="rId9"/>
    </p:embeddedFont>
    <p:embeddedFont>
      <p:font typeface="Montserrat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43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512497">
            <a:off x="5254798" y="2583120"/>
            <a:ext cx="9443661" cy="7142842"/>
          </a:xfrm>
          <a:custGeom>
            <a:avLst/>
            <a:gdLst/>
            <a:ahLst/>
            <a:cxnLst/>
            <a:rect l="l" t="t" r="r" b="b"/>
            <a:pathLst>
              <a:path w="9443661" h="7142842">
                <a:moveTo>
                  <a:pt x="0" y="0"/>
                </a:moveTo>
                <a:lnTo>
                  <a:pt x="9443661" y="0"/>
                </a:lnTo>
                <a:lnTo>
                  <a:pt x="9443661" y="7142842"/>
                </a:lnTo>
                <a:lnTo>
                  <a:pt x="0" y="71428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7542406" y="1872632"/>
            <a:ext cx="2553624" cy="5052784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112476" r="-112476"/>
              </a:stretch>
            </a:blipFill>
          </p:spPr>
          <p:txBody>
            <a:bodyPr/>
            <a:lstStyle/>
            <a:p>
              <a:endParaRPr lang="es-EC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19" name="Freeform 19"/>
          <p:cNvSpPr/>
          <p:nvPr/>
        </p:nvSpPr>
        <p:spPr>
          <a:xfrm>
            <a:off x="878752" y="691013"/>
            <a:ext cx="1237770" cy="649829"/>
          </a:xfrm>
          <a:custGeom>
            <a:avLst/>
            <a:gdLst/>
            <a:ahLst/>
            <a:cxnLst/>
            <a:rect l="l" t="t" r="r" b="b"/>
            <a:pathLst>
              <a:path w="1237770" h="649829">
                <a:moveTo>
                  <a:pt x="0" y="0"/>
                </a:moveTo>
                <a:lnTo>
                  <a:pt x="1237770" y="0"/>
                </a:lnTo>
                <a:lnTo>
                  <a:pt x="1237770" y="649829"/>
                </a:lnTo>
                <a:lnTo>
                  <a:pt x="0" y="6498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20" name="TextBox 20"/>
          <p:cNvSpPr txBox="1"/>
          <p:nvPr/>
        </p:nvSpPr>
        <p:spPr>
          <a:xfrm>
            <a:off x="762000" y="2356876"/>
            <a:ext cx="4990423" cy="1121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9"/>
              </a:lnSpc>
            </a:pPr>
            <a:r>
              <a:rPr sz="4027" b="1" dirty="0" err="1">
                <a:solidFill>
                  <a:srgbClr val="000000"/>
                </a:solidFill>
                <a:latin typeface="Montserrat Bold"/>
              </a:rPr>
              <a:t>Telepsicología</a:t>
            </a:r>
            <a:r>
              <a:rPr sz="4027" b="1" dirty="0">
                <a:solidFill>
                  <a:srgbClr val="000000"/>
                </a:solidFill>
                <a:latin typeface="Montserrat Bold"/>
              </a:rPr>
              <a:t> UIDE - </a:t>
            </a:r>
            <a:r>
              <a:rPr sz="4027" b="1" dirty="0" err="1">
                <a:solidFill>
                  <a:srgbClr val="000000"/>
                </a:solidFill>
                <a:latin typeface="Montserrat Bold"/>
              </a:rPr>
              <a:t>Triaje</a:t>
            </a:r>
            <a:r>
              <a:rPr sz="4027" b="1" dirty="0">
                <a:solidFill>
                  <a:srgbClr val="000000"/>
                </a:solidFill>
                <a:latin typeface="Montserrat Bold"/>
              </a:rPr>
              <a:t> Inteligente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17705" y="901949"/>
            <a:ext cx="685815" cy="13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9"/>
              </a:lnSpc>
            </a:pPr>
            <a:r>
              <a:rPr sz="999">
                <a:solidFill>
                  <a:srgbClr val="000000"/>
                </a:solidFill>
                <a:latin typeface="Montserrat"/>
              </a:rPr>
              <a:t>INICIO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2000" y="4734753"/>
            <a:ext cx="4084855" cy="214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61"/>
              </a:lnSpc>
            </a:pPr>
            <a:r>
              <a:rPr sz="1257">
                <a:solidFill>
                  <a:srgbClr val="555555"/>
                </a:solidFill>
                <a:latin typeface="Montserrat"/>
              </a:rPr>
              <a:t>Sistema Inteligente de Telepsicología con Triaje Automatizado mediante Minería de Datos e IA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27970" y="901949"/>
            <a:ext cx="1395029" cy="13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9"/>
              </a:lnSpc>
            </a:pPr>
            <a:r>
              <a:rPr sz="999">
                <a:solidFill>
                  <a:srgbClr val="000000"/>
                </a:solidFill>
                <a:latin typeface="Montserrat"/>
              </a:rPr>
              <a:t>CARACTERÍSTICAS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46834" y="901949"/>
            <a:ext cx="1142106" cy="13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9"/>
              </a:lnSpc>
            </a:pPr>
            <a:r>
              <a:rPr sz="999">
                <a:solidFill>
                  <a:srgbClr val="000000"/>
                </a:solidFill>
                <a:latin typeface="Montserrat"/>
              </a:rPr>
              <a:t>EL PROYECTO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43411" y="901949"/>
            <a:ext cx="896847" cy="13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9"/>
              </a:lnSpc>
            </a:pPr>
            <a:r>
              <a:rPr sz="999">
                <a:solidFill>
                  <a:srgbClr val="000000"/>
                </a:solidFill>
                <a:latin typeface="Montserrat"/>
              </a:rPr>
              <a:t>COMPONENTES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8FF9B3A2-0059-BDB1-A6C5-5241DA9C99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" t="21565" r="4337"/>
          <a:stretch>
            <a:fillRect/>
          </a:stretch>
        </p:blipFill>
        <p:spPr>
          <a:xfrm>
            <a:off x="7734905" y="2190661"/>
            <a:ext cx="2181654" cy="45273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AA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54535">
            <a:off x="-1394227" y="4034920"/>
            <a:ext cx="14980453" cy="11330670"/>
          </a:xfrm>
          <a:custGeom>
            <a:avLst/>
            <a:gdLst/>
            <a:ahLst/>
            <a:cxnLst/>
            <a:rect l="l" t="t" r="r" b="b"/>
            <a:pathLst>
              <a:path w="14980453" h="11330670">
                <a:moveTo>
                  <a:pt x="0" y="0"/>
                </a:moveTo>
                <a:lnTo>
                  <a:pt x="14980454" y="0"/>
                </a:lnTo>
                <a:lnTo>
                  <a:pt x="14980454" y="11330671"/>
                </a:lnTo>
                <a:lnTo>
                  <a:pt x="0" y="11330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3" name="Freeform 3"/>
          <p:cNvSpPr/>
          <p:nvPr/>
        </p:nvSpPr>
        <p:spPr>
          <a:xfrm>
            <a:off x="9854543" y="2120497"/>
            <a:ext cx="780045" cy="713386"/>
          </a:xfrm>
          <a:custGeom>
            <a:avLst/>
            <a:gdLst/>
            <a:ahLst/>
            <a:cxnLst/>
            <a:rect l="l" t="t" r="r" b="b"/>
            <a:pathLst>
              <a:path w="780045" h="713386">
                <a:moveTo>
                  <a:pt x="0" y="0"/>
                </a:moveTo>
                <a:lnTo>
                  <a:pt x="780045" y="0"/>
                </a:lnTo>
                <a:lnTo>
                  <a:pt x="780045" y="713387"/>
                </a:lnTo>
                <a:lnTo>
                  <a:pt x="0" y="7133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4" name="Freeform 4"/>
          <p:cNvSpPr/>
          <p:nvPr/>
        </p:nvSpPr>
        <p:spPr>
          <a:xfrm>
            <a:off x="1566900" y="2120497"/>
            <a:ext cx="706901" cy="713386"/>
          </a:xfrm>
          <a:custGeom>
            <a:avLst/>
            <a:gdLst/>
            <a:ahLst/>
            <a:cxnLst/>
            <a:rect l="l" t="t" r="r" b="b"/>
            <a:pathLst>
              <a:path w="706901" h="713386">
                <a:moveTo>
                  <a:pt x="0" y="0"/>
                </a:moveTo>
                <a:lnTo>
                  <a:pt x="706901" y="0"/>
                </a:lnTo>
                <a:lnTo>
                  <a:pt x="706901" y="713387"/>
                </a:lnTo>
                <a:lnTo>
                  <a:pt x="0" y="7133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5" name="Freeform 5"/>
          <p:cNvSpPr/>
          <p:nvPr/>
        </p:nvSpPr>
        <p:spPr>
          <a:xfrm>
            <a:off x="4407377" y="2120497"/>
            <a:ext cx="723916" cy="713386"/>
          </a:xfrm>
          <a:custGeom>
            <a:avLst/>
            <a:gdLst/>
            <a:ahLst/>
            <a:cxnLst/>
            <a:rect l="l" t="t" r="r" b="b"/>
            <a:pathLst>
              <a:path w="723916" h="713386">
                <a:moveTo>
                  <a:pt x="0" y="0"/>
                </a:moveTo>
                <a:lnTo>
                  <a:pt x="723916" y="0"/>
                </a:lnTo>
                <a:lnTo>
                  <a:pt x="723916" y="713387"/>
                </a:lnTo>
                <a:lnTo>
                  <a:pt x="0" y="7133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6" name="Freeform 6"/>
          <p:cNvSpPr/>
          <p:nvPr/>
        </p:nvSpPr>
        <p:spPr>
          <a:xfrm>
            <a:off x="7082231" y="2120497"/>
            <a:ext cx="736140" cy="713386"/>
          </a:xfrm>
          <a:custGeom>
            <a:avLst/>
            <a:gdLst/>
            <a:ahLst/>
            <a:cxnLst/>
            <a:rect l="l" t="t" r="r" b="b"/>
            <a:pathLst>
              <a:path w="736140" h="713386">
                <a:moveTo>
                  <a:pt x="0" y="0"/>
                </a:moveTo>
                <a:lnTo>
                  <a:pt x="736139" y="0"/>
                </a:lnTo>
                <a:lnTo>
                  <a:pt x="736139" y="713387"/>
                </a:lnTo>
                <a:lnTo>
                  <a:pt x="0" y="7133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sp>
        <p:nvSpPr>
          <p:cNvPr id="7" name="TextBox 7"/>
          <p:cNvSpPr txBox="1"/>
          <p:nvPr/>
        </p:nvSpPr>
        <p:spPr>
          <a:xfrm>
            <a:off x="3267325" y="977069"/>
            <a:ext cx="5830622" cy="328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</a:pPr>
            <a:r>
              <a:rPr sz="2400" b="1">
                <a:solidFill>
                  <a:srgbClr val="000000"/>
                </a:solidFill>
                <a:latin typeface="Montserrat Ultra-Bold"/>
              </a:rPr>
              <a:t>Características y Arquitectura del Sistema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2000" y="3411348"/>
            <a:ext cx="2316702" cy="50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4"/>
              </a:lnSpc>
            </a:pPr>
            <a:r>
              <a:rPr sz="1400" b="1">
                <a:solidFill>
                  <a:srgbClr val="000000"/>
                </a:solidFill>
                <a:latin typeface="Montserrat Semi-Bold"/>
              </a:rPr>
              <a:t>Triaje Automatizado y Detección de Crisis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03309" y="3411348"/>
            <a:ext cx="2316702" cy="50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4"/>
              </a:lnSpc>
            </a:pPr>
            <a:r>
              <a:rPr sz="1400" b="1">
                <a:solidFill>
                  <a:srgbClr val="000000"/>
                </a:solidFill>
                <a:latin typeface="Montserrat Semi-Bold"/>
              </a:rPr>
              <a:t>RAG + LLM DeepSeek y Traducción Neural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91950" y="3411348"/>
            <a:ext cx="2316702" cy="50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4"/>
              </a:lnSpc>
            </a:pPr>
            <a:r>
              <a:rPr sz="1400" b="1">
                <a:solidFill>
                  <a:srgbClr val="000000"/>
                </a:solidFill>
                <a:latin typeface="Montserrat Semi-Bold"/>
              </a:rPr>
              <a:t>Pipeline de Minería de Datos (KDD)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86215" y="3411348"/>
            <a:ext cx="2316702" cy="506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4"/>
              </a:lnSpc>
            </a:pPr>
            <a:r>
              <a:rPr sz="1400" b="1">
                <a:solidFill>
                  <a:srgbClr val="000000"/>
                </a:solidFill>
                <a:latin typeface="Montserrat Semi-Bold"/>
              </a:rPr>
              <a:t>Interfaz e Integración Universitaria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3972" y="4051893"/>
            <a:ext cx="2332053" cy="108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9"/>
              </a:lnSpc>
            </a:pPr>
            <a:r>
              <a:rPr sz="1105">
                <a:solidFill>
                  <a:srgbClr val="000000"/>
                </a:solidFill>
                <a:latin typeface="Montserrat"/>
              </a:rPr>
              <a:t>Clasifica el nivel de urgencia emocional (Bajo, Medio, Alto, Crítico). En casos críticos con ideas suicidas o autolesiones, notifica de forma inmediata y automática a Bienestar Estudiantil mediante correo SMTP.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03309" y="4051893"/>
            <a:ext cx="2332053" cy="108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9"/>
              </a:lnSpc>
            </a:pPr>
            <a:r>
              <a:rPr sz="1105">
                <a:solidFill>
                  <a:srgbClr val="000000"/>
                </a:solidFill>
                <a:latin typeface="Montserrat"/>
              </a:rPr>
              <a:t>Recuperación RAG con VectorDB ChromaDB y Sentence-Transformers (all-MiniLM-L6-v2) con traducción automática MarianMT (ES-&gt;EN) para consultas precisas a la API de DeepSeek.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91950" y="4051893"/>
            <a:ext cx="2332053" cy="108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9"/>
              </a:lnSpc>
            </a:pPr>
            <a:r>
              <a:rPr sz="1105">
                <a:solidFill>
                  <a:srgbClr val="000000"/>
                </a:solidFill>
                <a:latin typeface="Montserrat"/>
              </a:rPr>
              <a:t>Modelado predictivo con scikit-learn (Árboles de Decisión, Random Forest, Regresión Logística) sobre datasets de salud mental para identificación temprana de factores de riesgo.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97947" y="4051893"/>
            <a:ext cx="2332053" cy="108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9"/>
              </a:lnSpc>
            </a:pPr>
            <a:r>
              <a:rPr sz="1105">
                <a:solidFill>
                  <a:srgbClr val="000000"/>
                </a:solidFill>
                <a:latin typeface="Montserrat"/>
              </a:rPr>
              <a:t>UI responsiva desarrollada en Streamlit integrable en plataformas académicas (Canvas UIDE) con widget flotante de chat, gestión de sesiones, validación de credenciales y auditoría.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2301384"/>
            <a:ext cx="4496290" cy="1206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sz="3499" b="1">
                <a:solidFill>
                  <a:srgbClr val="000000"/>
                </a:solidFill>
                <a:latin typeface="Montserrat Bold"/>
              </a:rPr>
              <a:t>Beneficios de la Aplicación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24166" y="1083954"/>
            <a:ext cx="971518" cy="49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14"/>
              </a:lnSpc>
            </a:pPr>
            <a:r>
              <a:rPr lang="en-US" sz="3499" b="1">
                <a:solidFill>
                  <a:srgbClr val="91004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24166" y="3053263"/>
            <a:ext cx="971518" cy="49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14"/>
              </a:lnSpc>
            </a:pPr>
            <a:r>
              <a:rPr lang="en-US" sz="3499" b="1">
                <a:solidFill>
                  <a:srgbClr val="91004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24166" y="5088839"/>
            <a:ext cx="971518" cy="49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14"/>
              </a:lnSpc>
            </a:pPr>
            <a:r>
              <a:rPr lang="en-US" sz="3499" b="1">
                <a:solidFill>
                  <a:srgbClr val="910047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53321" y="1339042"/>
            <a:ext cx="4276679" cy="123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8"/>
              </a:lnSpc>
            </a:pPr>
            <a:r>
              <a:rPr sz="1400">
                <a:solidFill>
                  <a:srgbClr val="000000"/>
                </a:solidFill>
                <a:latin typeface="Montserrat"/>
              </a:rPr>
              <a:t>Supera barreras como el estigma social y la falta de acceso inmediato, permitiendo a los estudiantes recibir contención emocional e identificación temprana las 24 horas.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53321" y="3338384"/>
            <a:ext cx="4276679" cy="123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8"/>
              </a:lnSpc>
            </a:pPr>
            <a:r>
              <a:rPr sz="1400" dirty="0" err="1">
                <a:solidFill>
                  <a:srgbClr val="000000"/>
                </a:solidFill>
                <a:latin typeface="Montserrat"/>
              </a:rPr>
              <a:t>Evalúa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objetivamente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la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gravedad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emocional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y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deriva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automáticamente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las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emergencias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sin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reemplazar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la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intervención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humana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calificada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de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los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profesionales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en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psicología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53321" y="5373960"/>
            <a:ext cx="4276679" cy="123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8"/>
              </a:lnSpc>
            </a:pPr>
            <a:r>
              <a:rPr sz="1400" dirty="0" err="1">
                <a:solidFill>
                  <a:srgbClr val="000000"/>
                </a:solidFill>
                <a:latin typeface="Montserrat"/>
              </a:rPr>
              <a:t>Protección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rigurosa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de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los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datos del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estudiante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con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validación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de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credenciales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UIDE (cédula y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correo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institucional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),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registro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confidencial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de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alertas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y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trazabilidad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69145" y="2904827"/>
            <a:ext cx="2749417" cy="24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4"/>
              </a:lnSpc>
            </a:pPr>
            <a:r>
              <a:rPr sz="1400" b="1">
                <a:solidFill>
                  <a:srgbClr val="000000"/>
                </a:solidFill>
                <a:latin typeface="Montserrat Semi-Bold"/>
              </a:rPr>
              <a:t>Atención Oportuna y Prevención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69145" y="896198"/>
            <a:ext cx="2749417" cy="24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4"/>
              </a:lnSpc>
            </a:pPr>
            <a:r>
              <a:rPr sz="1400" b="1" dirty="0" err="1">
                <a:solidFill>
                  <a:srgbClr val="000000"/>
                </a:solidFill>
                <a:latin typeface="Montserrat Semi-Bold"/>
              </a:rPr>
              <a:t>Triaje</a:t>
            </a:r>
            <a:r>
              <a:rPr sz="1400" b="1" dirty="0">
                <a:solidFill>
                  <a:srgbClr val="000000"/>
                </a:solidFill>
                <a:latin typeface="Montserrat Semi-Bold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Montserrat Semi-Bold"/>
              </a:rPr>
              <a:t>Objetivo</a:t>
            </a:r>
            <a:r>
              <a:rPr sz="1400" b="1" dirty="0">
                <a:solidFill>
                  <a:srgbClr val="000000"/>
                </a:solidFill>
                <a:latin typeface="Montserrat Semi-Bold"/>
              </a:rPr>
              <a:t> y Respuesta </a:t>
            </a:r>
            <a:r>
              <a:rPr sz="1400" b="1" dirty="0" err="1">
                <a:solidFill>
                  <a:srgbClr val="000000"/>
                </a:solidFill>
                <a:latin typeface="Montserrat Semi-Bold"/>
              </a:rPr>
              <a:t>Graduada</a:t>
            </a:r>
            <a:endParaRPr sz="1400" b="1" dirty="0">
              <a:solidFill>
                <a:srgbClr val="000000"/>
              </a:solidFill>
              <a:latin typeface="Montserrat Semi-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156463" y="4964315"/>
            <a:ext cx="2749417" cy="249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4"/>
              </a:lnSpc>
            </a:pPr>
            <a:r>
              <a:rPr sz="1400" b="1" dirty="0" err="1">
                <a:solidFill>
                  <a:srgbClr val="000000"/>
                </a:solidFill>
                <a:latin typeface="Montserrat Semi-Bold"/>
              </a:rPr>
              <a:t>Privacidad</a:t>
            </a:r>
            <a:r>
              <a:rPr sz="1400" b="1" dirty="0">
                <a:solidFill>
                  <a:srgbClr val="000000"/>
                </a:solidFill>
                <a:latin typeface="Montserrat Semi-Bold"/>
              </a:rPr>
              <a:t> y </a:t>
            </a:r>
            <a:r>
              <a:rPr sz="1400" b="1" dirty="0" err="1">
                <a:solidFill>
                  <a:srgbClr val="000000"/>
                </a:solidFill>
                <a:latin typeface="Montserrat Semi-Bold"/>
              </a:rPr>
              <a:t>Seguridad</a:t>
            </a:r>
            <a:r>
              <a:rPr sz="1400" b="1" dirty="0">
                <a:solidFill>
                  <a:srgbClr val="000000"/>
                </a:solidFill>
                <a:latin typeface="Montserrat Semi-Bold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Montserrat Semi-Bold"/>
              </a:rPr>
              <a:t>Institucional</a:t>
            </a:r>
            <a:endParaRPr sz="1400" b="1" dirty="0">
              <a:solidFill>
                <a:srgbClr val="000000"/>
              </a:solidFill>
              <a:latin typeface="Montserrat Semi-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0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280053">
            <a:off x="-1558410" y="-8902356"/>
            <a:ext cx="16709187" cy="12638222"/>
          </a:xfrm>
          <a:custGeom>
            <a:avLst/>
            <a:gdLst/>
            <a:ahLst/>
            <a:cxnLst/>
            <a:rect l="l" t="t" r="r" b="b"/>
            <a:pathLst>
              <a:path w="16709187" h="12638222">
                <a:moveTo>
                  <a:pt x="0" y="0"/>
                </a:moveTo>
                <a:lnTo>
                  <a:pt x="16709187" y="0"/>
                </a:lnTo>
                <a:lnTo>
                  <a:pt x="16709187" y="12638221"/>
                </a:lnTo>
                <a:lnTo>
                  <a:pt x="0" y="126382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3" name="Group 3"/>
          <p:cNvGrpSpPr/>
          <p:nvPr/>
        </p:nvGrpSpPr>
        <p:grpSpPr>
          <a:xfrm>
            <a:off x="913710" y="2796520"/>
            <a:ext cx="3020399" cy="3928947"/>
            <a:chOff x="0" y="0"/>
            <a:chExt cx="1103787" cy="14358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03787" cy="1435810"/>
            </a:xfrm>
            <a:custGeom>
              <a:avLst/>
              <a:gdLst/>
              <a:ahLst/>
              <a:cxnLst/>
              <a:rect l="l" t="t" r="r" b="b"/>
              <a:pathLst>
                <a:path w="1103787" h="1435810">
                  <a:moveTo>
                    <a:pt x="0" y="0"/>
                  </a:moveTo>
                  <a:lnTo>
                    <a:pt x="1103787" y="0"/>
                  </a:lnTo>
                  <a:lnTo>
                    <a:pt x="1103787" y="1435810"/>
                  </a:lnTo>
                  <a:lnTo>
                    <a:pt x="0" y="1435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103787" cy="1464385"/>
            </a:xfrm>
            <a:prstGeom prst="rect">
              <a:avLst/>
            </a:prstGeom>
          </p:spPr>
          <p:txBody>
            <a:bodyPr lIns="22968" tIns="22968" rIns="22968" bIns="22968" rtlCol="0" anchor="ctr"/>
            <a:lstStyle/>
            <a:p>
              <a:pPr algn="ctr">
                <a:lnSpc>
                  <a:spcPts val="14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95096" y="2796519"/>
            <a:ext cx="3020399" cy="3928947"/>
            <a:chOff x="0" y="0"/>
            <a:chExt cx="1103787" cy="14358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03787" cy="1435810"/>
            </a:xfrm>
            <a:custGeom>
              <a:avLst/>
              <a:gdLst/>
              <a:ahLst/>
              <a:cxnLst/>
              <a:rect l="l" t="t" r="r" b="b"/>
              <a:pathLst>
                <a:path w="1103787" h="1435810">
                  <a:moveTo>
                    <a:pt x="0" y="0"/>
                  </a:moveTo>
                  <a:lnTo>
                    <a:pt x="1103787" y="0"/>
                  </a:lnTo>
                  <a:lnTo>
                    <a:pt x="1103787" y="1435810"/>
                  </a:lnTo>
                  <a:lnTo>
                    <a:pt x="0" y="143581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C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103787" cy="1464385"/>
            </a:xfrm>
            <a:prstGeom prst="rect">
              <a:avLst/>
            </a:prstGeom>
          </p:spPr>
          <p:txBody>
            <a:bodyPr lIns="22968" tIns="22968" rIns="22968" bIns="22968" rtlCol="0" anchor="ctr"/>
            <a:lstStyle/>
            <a:p>
              <a:pPr marL="0" lvl="0" indent="0" algn="ctr">
                <a:lnSpc>
                  <a:spcPts val="14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357525" y="1834806"/>
            <a:ext cx="3043029" cy="4908616"/>
            <a:chOff x="0" y="-28575"/>
            <a:chExt cx="1112057" cy="1793824"/>
          </a:xfrm>
        </p:grpSpPr>
        <p:sp>
          <p:nvSpPr>
            <p:cNvPr id="10" name="Freeform 10"/>
            <p:cNvSpPr/>
            <p:nvPr/>
          </p:nvSpPr>
          <p:spPr>
            <a:xfrm>
              <a:off x="8270" y="329439"/>
              <a:ext cx="1103787" cy="1435810"/>
            </a:xfrm>
            <a:custGeom>
              <a:avLst/>
              <a:gdLst/>
              <a:ahLst/>
              <a:cxnLst/>
              <a:rect l="l" t="t" r="r" b="b"/>
              <a:pathLst>
                <a:path w="1103787" h="1435810">
                  <a:moveTo>
                    <a:pt x="0" y="0"/>
                  </a:moveTo>
                  <a:lnTo>
                    <a:pt x="1103787" y="0"/>
                  </a:lnTo>
                  <a:lnTo>
                    <a:pt x="1103787" y="1435810"/>
                  </a:lnTo>
                  <a:lnTo>
                    <a:pt x="0" y="143581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EC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103787" cy="1464385"/>
            </a:xfrm>
            <a:prstGeom prst="rect">
              <a:avLst/>
            </a:prstGeom>
          </p:spPr>
          <p:txBody>
            <a:bodyPr lIns="22968" tIns="22968" rIns="22968" bIns="22968" rtlCol="0" anchor="ctr"/>
            <a:lstStyle/>
            <a:p>
              <a:pPr marL="0" lvl="0" indent="0" algn="ctr">
                <a:lnSpc>
                  <a:spcPts val="14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877824" y="1472454"/>
            <a:ext cx="6503471" cy="333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16"/>
              </a:lnSpc>
              <a:spcBef>
                <a:spcPct val="0"/>
              </a:spcBef>
            </a:pPr>
            <a:r>
              <a:rPr sz="2400" b="1">
                <a:solidFill>
                  <a:srgbClr val="FFFFFF"/>
                </a:solidFill>
                <a:latin typeface="Montserrat Ultra-Bold"/>
              </a:rPr>
              <a:t>Modalidades y Componentes de Implementación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6288" y="3031185"/>
            <a:ext cx="2154691" cy="200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6"/>
              </a:lnSpc>
            </a:pPr>
            <a:r>
              <a:rPr sz="1400" b="1">
                <a:solidFill>
                  <a:srgbClr val="000000"/>
                </a:solidFill>
                <a:latin typeface="Montserrat Semi-Bold"/>
              </a:rPr>
              <a:t>Módulo Triaje &amp; RAG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6288" y="3328918"/>
            <a:ext cx="1338867" cy="253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2"/>
              </a:lnSpc>
            </a:pPr>
            <a:r>
              <a:rPr sz="1800" b="1">
                <a:solidFill>
                  <a:srgbClr val="3101FF"/>
                </a:solidFill>
                <a:latin typeface="Montserrat Ultra-Bold"/>
              </a:rPr>
              <a:t>Fase 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98717" y="3284531"/>
            <a:ext cx="1338867" cy="253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2"/>
              </a:lnSpc>
            </a:pPr>
            <a:r>
              <a:rPr sz="1800" b="1" dirty="0">
                <a:solidFill>
                  <a:srgbClr val="3101FF"/>
                </a:solidFill>
                <a:latin typeface="Montserrat Ultra-Bold"/>
              </a:rPr>
              <a:t>Fase 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07709" y="2840136"/>
            <a:ext cx="2154691" cy="200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6"/>
              </a:lnSpc>
            </a:pPr>
            <a:r>
              <a:rPr sz="1400" b="1" dirty="0">
                <a:solidFill>
                  <a:srgbClr val="000000"/>
                </a:solidFill>
                <a:latin typeface="Montserrat Semi-Bold"/>
              </a:rPr>
              <a:t>Sistema </a:t>
            </a:r>
            <a:r>
              <a:rPr sz="1400" b="1" dirty="0" err="1">
                <a:solidFill>
                  <a:srgbClr val="000000"/>
                </a:solidFill>
                <a:latin typeface="Montserrat Semi-Bold"/>
              </a:rPr>
              <a:t>Completo</a:t>
            </a:r>
            <a:r>
              <a:rPr sz="1400" b="1" dirty="0">
                <a:solidFill>
                  <a:srgbClr val="000000"/>
                </a:solidFill>
                <a:latin typeface="Montserrat Semi-Bold"/>
              </a:rPr>
              <a:t> + </a:t>
            </a:r>
            <a:r>
              <a:rPr sz="1400" b="1" dirty="0" err="1">
                <a:solidFill>
                  <a:srgbClr val="000000"/>
                </a:solidFill>
                <a:latin typeface="Montserrat Semi-Bold"/>
              </a:rPr>
              <a:t>Alertas</a:t>
            </a:r>
            <a:endParaRPr sz="1400" b="1" dirty="0">
              <a:solidFill>
                <a:srgbClr val="000000"/>
              </a:solidFill>
              <a:latin typeface="Montserrat Semi-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663020" y="3031185"/>
            <a:ext cx="1554198" cy="200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6"/>
              </a:lnSpc>
            </a:pPr>
            <a:r>
              <a:rPr sz="1400" b="1">
                <a:solidFill>
                  <a:srgbClr val="000000"/>
                </a:solidFill>
                <a:latin typeface="Montserrat Semi-Bold"/>
              </a:rPr>
              <a:t>Adaptación Institucional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79407" y="3498082"/>
            <a:ext cx="1403775" cy="169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8"/>
              </a:lnSpc>
            </a:pPr>
            <a:r>
              <a:rPr sz="1200" dirty="0" err="1">
                <a:solidFill>
                  <a:srgbClr val="3101FF"/>
                </a:solidFill>
                <a:latin typeface="Montserrat"/>
              </a:rPr>
              <a:t>Soporte</a:t>
            </a:r>
            <a:r>
              <a:rPr sz="1200" dirty="0">
                <a:solidFill>
                  <a:srgbClr val="3101FF"/>
                </a:solidFill>
                <a:latin typeface="Montserrat"/>
              </a:rPr>
              <a:t> UIDE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6288" y="3838439"/>
            <a:ext cx="2564990" cy="117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 algn="l">
              <a:lnSpc>
                <a:spcPts val="1920"/>
              </a:lnSpc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Montserrat"/>
              </a:rPr>
              <a:t>Chatbot en Streamlit</a:t>
            </a:r>
          </a:p>
          <a:p>
            <a:pPr marL="259080" lvl="1" indent="-129540" algn="l">
              <a:lnSpc>
                <a:spcPts val="1920"/>
              </a:lnSpc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Montserrat"/>
              </a:rPr>
              <a:t>Triaje por Reglas Clave</a:t>
            </a:r>
          </a:p>
          <a:p>
            <a:pPr marL="259080" lvl="1" indent="-129540" algn="l">
              <a:lnSpc>
                <a:spcPts val="1920"/>
              </a:lnSpc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Montserrat"/>
              </a:rPr>
              <a:t>RAG VectorDB ChromaDB</a:t>
            </a:r>
          </a:p>
          <a:p>
            <a:pPr marL="259080" lvl="1" indent="-129540" algn="l">
              <a:lnSpc>
                <a:spcPts val="1920"/>
              </a:lnSpc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Montserrat"/>
              </a:rPr>
              <a:t>Traducción MarianMT</a:t>
            </a:r>
          </a:p>
          <a:p>
            <a:pPr marL="259080" lvl="1" indent="-129540" algn="l">
              <a:lnSpc>
                <a:spcPts val="1920"/>
              </a:lnSpc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Montserrat"/>
              </a:rPr>
              <a:t>Integración API DeepSeek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12744" y="3526301"/>
            <a:ext cx="2564990" cy="2657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 algn="l">
              <a:lnSpc>
                <a:spcPts val="1920"/>
              </a:lnSpc>
              <a:buFont typeface="Arial"/>
              <a:buChar char="•"/>
            </a:pPr>
            <a:r>
              <a:rPr sz="1200" dirty="0">
                <a:solidFill>
                  <a:srgbClr val="000000"/>
                </a:solidFill>
                <a:latin typeface="Montserrat"/>
              </a:rPr>
              <a:t>Todo el </a:t>
            </a:r>
            <a:r>
              <a:rPr sz="1200" dirty="0" err="1">
                <a:solidFill>
                  <a:srgbClr val="000000"/>
                </a:solidFill>
                <a:latin typeface="Montserrat"/>
              </a:rPr>
              <a:t>módulo</a:t>
            </a:r>
            <a:r>
              <a:rPr sz="1200" dirty="0">
                <a:solidFill>
                  <a:srgbClr val="000000"/>
                </a:solidFill>
                <a:latin typeface="Montserrat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Montserrat"/>
              </a:rPr>
              <a:t>Triaje</a:t>
            </a:r>
            <a:r>
              <a:rPr sz="1200" dirty="0">
                <a:solidFill>
                  <a:srgbClr val="000000"/>
                </a:solidFill>
                <a:latin typeface="Montserrat"/>
              </a:rPr>
              <a:t> &amp; RAG</a:t>
            </a:r>
          </a:p>
          <a:p>
            <a:pPr marL="259080" lvl="1" indent="-129540" algn="l">
              <a:lnSpc>
                <a:spcPts val="1920"/>
              </a:lnSpc>
              <a:buFont typeface="Arial"/>
              <a:buChar char="•"/>
            </a:pPr>
            <a:r>
              <a:rPr sz="1200" dirty="0" err="1">
                <a:solidFill>
                  <a:srgbClr val="000000"/>
                </a:solidFill>
                <a:latin typeface="Montserrat"/>
              </a:rPr>
              <a:t>Notificaciones</a:t>
            </a:r>
            <a:r>
              <a:rPr sz="1200" dirty="0">
                <a:solidFill>
                  <a:srgbClr val="000000"/>
                </a:solidFill>
                <a:latin typeface="Montserrat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Montserrat"/>
              </a:rPr>
              <a:t>Automáticas</a:t>
            </a:r>
            <a:r>
              <a:rPr sz="1200" dirty="0">
                <a:solidFill>
                  <a:srgbClr val="000000"/>
                </a:solidFill>
                <a:latin typeface="Montserrat"/>
              </a:rPr>
              <a:t> SMTP</a:t>
            </a:r>
          </a:p>
          <a:p>
            <a:pPr marL="259080" lvl="1" indent="-129540" algn="l">
              <a:lnSpc>
                <a:spcPts val="1920"/>
              </a:lnSpc>
              <a:buFont typeface="Arial"/>
              <a:buChar char="•"/>
            </a:pPr>
            <a:r>
              <a:rPr sz="1200" dirty="0" err="1">
                <a:solidFill>
                  <a:srgbClr val="000000"/>
                </a:solidFill>
                <a:latin typeface="Montserrat"/>
              </a:rPr>
              <a:t>Alertas</a:t>
            </a:r>
            <a:r>
              <a:rPr sz="1200" dirty="0">
                <a:solidFill>
                  <a:srgbClr val="000000"/>
                </a:solidFill>
                <a:latin typeface="Montserrat"/>
              </a:rPr>
              <a:t> a </a:t>
            </a:r>
            <a:r>
              <a:rPr sz="1200" dirty="0" err="1">
                <a:solidFill>
                  <a:srgbClr val="000000"/>
                </a:solidFill>
                <a:latin typeface="Montserrat"/>
              </a:rPr>
              <a:t>Bienestar</a:t>
            </a:r>
            <a:r>
              <a:rPr sz="1200" dirty="0">
                <a:solidFill>
                  <a:srgbClr val="000000"/>
                </a:solidFill>
                <a:latin typeface="Montserrat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Montserrat"/>
              </a:rPr>
              <a:t>Estudiantil</a:t>
            </a:r>
            <a:endParaRPr sz="1200" dirty="0">
              <a:solidFill>
                <a:srgbClr val="000000"/>
              </a:solidFill>
              <a:latin typeface="Montserrat"/>
            </a:endParaRPr>
          </a:p>
          <a:p>
            <a:pPr marL="259080" lvl="1" indent="-129540" algn="l">
              <a:lnSpc>
                <a:spcPts val="1920"/>
              </a:lnSpc>
              <a:buFont typeface="Arial"/>
              <a:buChar char="•"/>
            </a:pPr>
            <a:r>
              <a:rPr sz="1200" dirty="0" err="1">
                <a:solidFill>
                  <a:srgbClr val="000000"/>
                </a:solidFill>
                <a:latin typeface="Montserrat"/>
              </a:rPr>
              <a:t>Modelos</a:t>
            </a:r>
            <a:r>
              <a:rPr sz="1200" dirty="0">
                <a:solidFill>
                  <a:srgbClr val="000000"/>
                </a:solidFill>
                <a:latin typeface="Montserrat"/>
              </a:rPr>
              <a:t> de </a:t>
            </a:r>
            <a:r>
              <a:rPr sz="1200" dirty="0" err="1">
                <a:solidFill>
                  <a:srgbClr val="000000"/>
                </a:solidFill>
                <a:latin typeface="Montserrat"/>
              </a:rPr>
              <a:t>Minería</a:t>
            </a:r>
            <a:r>
              <a:rPr sz="1200" dirty="0">
                <a:solidFill>
                  <a:srgbClr val="000000"/>
                </a:solidFill>
                <a:latin typeface="Montserrat"/>
              </a:rPr>
              <a:t> (Scikit-Learn)</a:t>
            </a:r>
          </a:p>
          <a:p>
            <a:pPr marL="259080" lvl="1" indent="-129540" algn="l">
              <a:lnSpc>
                <a:spcPts val="1920"/>
              </a:lnSpc>
              <a:buFont typeface="Arial"/>
              <a:buChar char="•"/>
            </a:pPr>
            <a:r>
              <a:rPr sz="1200" dirty="0" err="1">
                <a:solidFill>
                  <a:srgbClr val="000000"/>
                </a:solidFill>
                <a:latin typeface="Montserrat"/>
              </a:rPr>
              <a:t>Bitácora</a:t>
            </a:r>
            <a:r>
              <a:rPr sz="1200" dirty="0">
                <a:solidFill>
                  <a:srgbClr val="000000"/>
                </a:solidFill>
                <a:latin typeface="Montserrat"/>
              </a:rPr>
              <a:t> de Crisis CSV/Chroma</a:t>
            </a:r>
          </a:p>
          <a:p>
            <a:pPr marL="259080" lvl="1" indent="-129540" algn="l">
              <a:lnSpc>
                <a:spcPts val="1920"/>
              </a:lnSpc>
              <a:buFont typeface="Arial"/>
              <a:buChar char="•"/>
            </a:pPr>
            <a:r>
              <a:rPr sz="1200" dirty="0" err="1">
                <a:solidFill>
                  <a:srgbClr val="000000"/>
                </a:solidFill>
                <a:latin typeface="Montserrat"/>
              </a:rPr>
              <a:t>Validación</a:t>
            </a:r>
            <a:r>
              <a:rPr sz="1200" dirty="0">
                <a:solidFill>
                  <a:srgbClr val="000000"/>
                </a:solidFill>
                <a:latin typeface="Montserrat"/>
              </a:rPr>
              <a:t> Cédula y Email UIDE</a:t>
            </a:r>
          </a:p>
          <a:p>
            <a:pPr marL="259080" lvl="1" indent="-129540" algn="l">
              <a:lnSpc>
                <a:spcPts val="1920"/>
              </a:lnSpc>
              <a:buFont typeface="Arial"/>
              <a:buChar char="•"/>
            </a:pPr>
            <a:endParaRPr sz="1200" dirty="0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663020" y="3838439"/>
            <a:ext cx="2432041" cy="189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>
                <a:solidFill>
                  <a:srgbClr val="000000"/>
                </a:solidFill>
                <a:latin typeface="Montserrat"/>
              </a:rPr>
              <a:t>Personalización de modelos predictivos de minería de datos según cohortes estudiantiles.</a:t>
            </a:r>
          </a:p>
          <a:p>
            <a:pPr algn="l">
              <a:lnSpc>
                <a:spcPts val="1920"/>
              </a:lnSpc>
            </a:pPr>
            <a:endParaRPr sz="1200">
              <a:solidFill>
                <a:srgbClr val="000000"/>
              </a:solidFill>
              <a:latin typeface="Montserrat"/>
            </a:endParaRPr>
          </a:p>
          <a:p>
            <a:pPr algn="l">
              <a:lnSpc>
                <a:spcPts val="1920"/>
              </a:lnSpc>
            </a:pPr>
            <a:r>
              <a:rPr sz="1200">
                <a:solidFill>
                  <a:srgbClr val="000000"/>
                </a:solidFill>
                <a:latin typeface="Montserrat"/>
              </a:rPr>
              <a:t>Sintonización fina de la base de conocimiento y protocolos de respuesta según requerimientos específicos de la universidad.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36288" y="6460561"/>
            <a:ext cx="2497489" cy="423636"/>
            <a:chOff x="0" y="0"/>
            <a:chExt cx="2395877" cy="406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395877" cy="406400"/>
            </a:xfrm>
            <a:custGeom>
              <a:avLst/>
              <a:gdLst/>
              <a:ahLst/>
              <a:cxnLst/>
              <a:rect l="l" t="t" r="r" b="b"/>
              <a:pathLst>
                <a:path w="2395877" h="406400">
                  <a:moveTo>
                    <a:pt x="2192677" y="0"/>
                  </a:moveTo>
                  <a:cubicBezTo>
                    <a:pt x="2304901" y="0"/>
                    <a:pt x="2395877" y="90976"/>
                    <a:pt x="2395877" y="203200"/>
                  </a:cubicBezTo>
                  <a:cubicBezTo>
                    <a:pt x="2395877" y="315424"/>
                    <a:pt x="2304901" y="406400"/>
                    <a:pt x="219267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7983F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2395877" cy="396875"/>
            </a:xfrm>
            <a:prstGeom prst="rect">
              <a:avLst/>
            </a:prstGeom>
          </p:spPr>
          <p:txBody>
            <a:bodyPr lIns="22968" tIns="22968" rIns="22968" bIns="22968" rtlCol="0" anchor="ctr"/>
            <a:lstStyle/>
            <a:p>
              <a:pPr algn="ctr">
                <a:lnSpc>
                  <a:spcPts val="1308"/>
                </a:lnSpc>
              </a:pPr>
              <a:r>
                <a:rPr lang="en-US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SELECCIONAR PLAN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706128" y="6460561"/>
            <a:ext cx="2557852" cy="423636"/>
            <a:chOff x="-148308" y="643203"/>
            <a:chExt cx="2453784" cy="406400"/>
          </a:xfrm>
        </p:grpSpPr>
        <p:sp>
          <p:nvSpPr>
            <p:cNvPr id="26" name="Freeform 26"/>
            <p:cNvSpPr/>
            <p:nvPr/>
          </p:nvSpPr>
          <p:spPr>
            <a:xfrm>
              <a:off x="-90401" y="643203"/>
              <a:ext cx="2395877" cy="406400"/>
            </a:xfrm>
            <a:custGeom>
              <a:avLst/>
              <a:gdLst/>
              <a:ahLst/>
              <a:cxnLst/>
              <a:rect l="l" t="t" r="r" b="b"/>
              <a:pathLst>
                <a:path w="2395877" h="406400">
                  <a:moveTo>
                    <a:pt x="2192677" y="0"/>
                  </a:moveTo>
                  <a:cubicBezTo>
                    <a:pt x="2304901" y="0"/>
                    <a:pt x="2395877" y="90976"/>
                    <a:pt x="2395877" y="203200"/>
                  </a:cubicBezTo>
                  <a:cubicBezTo>
                    <a:pt x="2395877" y="315424"/>
                    <a:pt x="2304901" y="406400"/>
                    <a:pt x="219267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7983F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-148308" y="652728"/>
              <a:ext cx="2395877" cy="396875"/>
            </a:xfrm>
            <a:prstGeom prst="rect">
              <a:avLst/>
            </a:prstGeom>
          </p:spPr>
          <p:txBody>
            <a:bodyPr lIns="22968" tIns="22968" rIns="22968" bIns="22968" rtlCol="0" anchor="ctr"/>
            <a:lstStyle/>
            <a:p>
              <a:pPr algn="ctr">
                <a:lnSpc>
                  <a:spcPts val="1308"/>
                </a:lnSpc>
              </a:pPr>
              <a:r>
                <a:rPr lang="en-US" sz="1200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SELECCIONAR PLAN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02436" y="6513648"/>
            <a:ext cx="2497489" cy="423636"/>
            <a:chOff x="0" y="0"/>
            <a:chExt cx="2395877" cy="406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395877" cy="406400"/>
            </a:xfrm>
            <a:custGeom>
              <a:avLst/>
              <a:gdLst/>
              <a:ahLst/>
              <a:cxnLst/>
              <a:rect l="l" t="t" r="r" b="b"/>
              <a:pathLst>
                <a:path w="2395877" h="406400">
                  <a:moveTo>
                    <a:pt x="2192677" y="0"/>
                  </a:moveTo>
                  <a:cubicBezTo>
                    <a:pt x="2304901" y="0"/>
                    <a:pt x="2395877" y="90976"/>
                    <a:pt x="2395877" y="203200"/>
                  </a:cubicBezTo>
                  <a:cubicBezTo>
                    <a:pt x="2395877" y="315424"/>
                    <a:pt x="2304901" y="406400"/>
                    <a:pt x="219267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7983F"/>
            </a:solidFill>
          </p:spPr>
          <p:txBody>
            <a:bodyPr/>
            <a:lstStyle/>
            <a:p>
              <a:endParaRPr lang="es-EC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9525"/>
              <a:ext cx="2395877" cy="396875"/>
            </a:xfrm>
            <a:prstGeom prst="rect">
              <a:avLst/>
            </a:prstGeom>
          </p:spPr>
          <p:txBody>
            <a:bodyPr lIns="22968" tIns="22968" rIns="22968" bIns="22968" rtlCol="0" anchor="ctr"/>
            <a:lstStyle/>
            <a:p>
              <a:pPr algn="ctr">
                <a:lnSpc>
                  <a:spcPts val="1308"/>
                </a:lnSpc>
              </a:pPr>
              <a:r>
                <a:rPr lang="en-US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CONTACTO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65633" y="4715638"/>
            <a:ext cx="2860733" cy="1102866"/>
            <a:chOff x="0" y="0"/>
            <a:chExt cx="2439161" cy="660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9161" cy="660400"/>
            </a:xfrm>
            <a:custGeom>
              <a:avLst/>
              <a:gdLst/>
              <a:ahLst/>
              <a:cxnLst/>
              <a:rect l="l" t="t" r="r" b="b"/>
              <a:pathLst>
                <a:path w="2439161" h="660400">
                  <a:moveTo>
                    <a:pt x="2314701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314701" y="0"/>
                  </a:lnTo>
                  <a:cubicBezTo>
                    <a:pt x="2383281" y="0"/>
                    <a:pt x="2439161" y="55880"/>
                    <a:pt x="2439161" y="124460"/>
                  </a:cubicBezTo>
                  <a:lnTo>
                    <a:pt x="2439161" y="535940"/>
                  </a:lnTo>
                  <a:cubicBezTo>
                    <a:pt x="2439161" y="604520"/>
                    <a:pt x="2383281" y="660400"/>
                    <a:pt x="2314701" y="66040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4" name="Freeform 4"/>
          <p:cNvSpPr/>
          <p:nvPr/>
        </p:nvSpPr>
        <p:spPr>
          <a:xfrm rot="-10280053">
            <a:off x="-1412006" y="-7911346"/>
            <a:ext cx="15681453" cy="11860881"/>
          </a:xfrm>
          <a:custGeom>
            <a:avLst/>
            <a:gdLst/>
            <a:ahLst/>
            <a:cxnLst/>
            <a:rect l="l" t="t" r="r" b="b"/>
            <a:pathLst>
              <a:path w="15681453" h="11860881">
                <a:moveTo>
                  <a:pt x="0" y="0"/>
                </a:moveTo>
                <a:lnTo>
                  <a:pt x="15681452" y="0"/>
                </a:lnTo>
                <a:lnTo>
                  <a:pt x="15681452" y="11860880"/>
                </a:lnTo>
                <a:lnTo>
                  <a:pt x="0" y="118608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C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4881483" y="4927863"/>
            <a:ext cx="367466" cy="350093"/>
            <a:chOff x="0" y="0"/>
            <a:chExt cx="1772920" cy="1689100"/>
          </a:xfrm>
        </p:grpSpPr>
        <p:sp>
          <p:nvSpPr>
            <p:cNvPr id="8" name="Freeform 8"/>
            <p:cNvSpPr/>
            <p:nvPr/>
          </p:nvSpPr>
          <p:spPr>
            <a:xfrm>
              <a:off x="-110" y="317"/>
              <a:ext cx="1771870" cy="1688378"/>
            </a:xfrm>
            <a:custGeom>
              <a:avLst/>
              <a:gdLst/>
              <a:ahLst/>
              <a:cxnLst/>
              <a:rect l="l" t="t" r="r" b="b"/>
              <a:pathLst>
                <a:path w="1771870" h="1688378">
                  <a:moveTo>
                    <a:pt x="913240" y="16193"/>
                  </a:moveTo>
                  <a:lnTo>
                    <a:pt x="1163430" y="524193"/>
                  </a:lnTo>
                  <a:cubicBezTo>
                    <a:pt x="1167240" y="533083"/>
                    <a:pt x="1176130" y="539433"/>
                    <a:pt x="1186290" y="540703"/>
                  </a:cubicBezTo>
                  <a:lnTo>
                    <a:pt x="1746360" y="621983"/>
                  </a:lnTo>
                  <a:cubicBezTo>
                    <a:pt x="1770490" y="625793"/>
                    <a:pt x="1780650" y="656273"/>
                    <a:pt x="1762870" y="672783"/>
                  </a:cubicBezTo>
                  <a:lnTo>
                    <a:pt x="1357740" y="1067753"/>
                  </a:lnTo>
                  <a:cubicBezTo>
                    <a:pt x="1350120" y="1074103"/>
                    <a:pt x="1347580" y="1084263"/>
                    <a:pt x="1348850" y="1094423"/>
                  </a:cubicBezTo>
                  <a:lnTo>
                    <a:pt x="1444100" y="1653223"/>
                  </a:lnTo>
                  <a:cubicBezTo>
                    <a:pt x="1447910" y="1677353"/>
                    <a:pt x="1422510" y="1696403"/>
                    <a:pt x="1400920" y="1684973"/>
                  </a:cubicBezTo>
                  <a:lnTo>
                    <a:pt x="899270" y="1420813"/>
                  </a:lnTo>
                  <a:cubicBezTo>
                    <a:pt x="890380" y="1415733"/>
                    <a:pt x="880220" y="1415733"/>
                    <a:pt x="871330" y="1420813"/>
                  </a:cubicBezTo>
                  <a:lnTo>
                    <a:pt x="369680" y="1684973"/>
                  </a:lnTo>
                  <a:cubicBezTo>
                    <a:pt x="348090" y="1696403"/>
                    <a:pt x="322690" y="1677353"/>
                    <a:pt x="326500" y="1653223"/>
                  </a:cubicBezTo>
                  <a:lnTo>
                    <a:pt x="421750" y="1094423"/>
                  </a:lnTo>
                  <a:cubicBezTo>
                    <a:pt x="423020" y="1084263"/>
                    <a:pt x="420480" y="1075373"/>
                    <a:pt x="412860" y="1067753"/>
                  </a:cubicBezTo>
                  <a:lnTo>
                    <a:pt x="9000" y="672783"/>
                  </a:lnTo>
                  <a:cubicBezTo>
                    <a:pt x="-8780" y="655003"/>
                    <a:pt x="1380" y="625793"/>
                    <a:pt x="25510" y="621983"/>
                  </a:cubicBezTo>
                  <a:lnTo>
                    <a:pt x="585580" y="540703"/>
                  </a:lnTo>
                  <a:cubicBezTo>
                    <a:pt x="595740" y="539433"/>
                    <a:pt x="603360" y="533083"/>
                    <a:pt x="608440" y="524193"/>
                  </a:cubicBezTo>
                  <a:lnTo>
                    <a:pt x="858630" y="16193"/>
                  </a:lnTo>
                  <a:cubicBezTo>
                    <a:pt x="870060" y="-5397"/>
                    <a:pt x="901810" y="-5397"/>
                    <a:pt x="913240" y="1619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EC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319497" y="3043100"/>
            <a:ext cx="7553005" cy="422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8"/>
              </a:lnSpc>
            </a:pPr>
            <a:r>
              <a:rPr sz="2400" b="1">
                <a:solidFill>
                  <a:srgbClr val="000000"/>
                </a:solidFill>
                <a:latin typeface="Montserrat Bold"/>
              </a:rPr>
              <a:t>Acceso e Integración en Canvas UIDE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33600" y="3934979"/>
            <a:ext cx="8051773" cy="44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dirty="0">
                <a:solidFill>
                  <a:srgbClr val="000000"/>
                </a:solidFill>
                <a:latin typeface="Montserrat"/>
              </a:rPr>
              <a:t>El bot de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telepsicología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se integra de forma </a:t>
            </a:r>
            <a:r>
              <a:rPr sz="1400" dirty="0" err="1">
                <a:solidFill>
                  <a:srgbClr val="000000"/>
                </a:solidFill>
                <a:latin typeface="Montserrat"/>
              </a:rPr>
              <a:t>directa</a:t>
            </a:r>
            <a:r>
              <a:rPr sz="1400" dirty="0">
                <a:solidFill>
                  <a:srgbClr val="000000"/>
                </a:solidFill>
                <a:latin typeface="Montserrat"/>
              </a:rPr>
              <a:t> </a:t>
            </a:r>
            <a:r>
              <a:rPr lang="es-EC" sz="1400" dirty="0">
                <a:solidFill>
                  <a:srgbClr val="000000"/>
                </a:solidFill>
                <a:latin typeface="Montserrat"/>
              </a:rPr>
              <a:t>desde git con streamlit </a:t>
            </a:r>
            <a:r>
              <a:rPr lang="es-EC" sz="1400" dirty="0" err="1">
                <a:solidFill>
                  <a:srgbClr val="000000"/>
                </a:solidFill>
                <a:latin typeface="Montserrat"/>
              </a:rPr>
              <a:t>community</a:t>
            </a:r>
            <a:r>
              <a:rPr lang="es-EC" sz="1400" dirty="0">
                <a:solidFill>
                  <a:srgbClr val="000000"/>
                </a:solidFill>
                <a:latin typeface="Montserrat"/>
              </a:rPr>
              <a:t> cloud</a:t>
            </a:r>
            <a:endParaRPr sz="1400" dirty="0">
              <a:solidFill>
                <a:srgbClr val="000000"/>
              </a:solidFill>
              <a:latin typeface="Montserra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392398" y="4872190"/>
            <a:ext cx="1868743" cy="485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sz="1599" dirty="0" err="1">
                <a:solidFill>
                  <a:srgbClr val="FFFFFF"/>
                </a:solidFill>
                <a:latin typeface="Montserrat"/>
              </a:rPr>
              <a:t>Acceso</a:t>
            </a:r>
            <a:r>
              <a:rPr sz="1599" dirty="0">
                <a:solidFill>
                  <a:srgbClr val="FFFFFF"/>
                </a:solidFill>
                <a:latin typeface="Montserrat"/>
              </a:rPr>
              <a:t> Directo </a:t>
            </a:r>
            <a:r>
              <a:rPr sz="1599" dirty="0" err="1">
                <a:solidFill>
                  <a:srgbClr val="FFFFFF"/>
                </a:solidFill>
                <a:latin typeface="Montserrat"/>
              </a:rPr>
              <a:t>vía</a:t>
            </a:r>
            <a:r>
              <a:rPr sz="1599" dirty="0">
                <a:solidFill>
                  <a:srgbClr val="FFFFFF"/>
                </a:solidFill>
                <a:latin typeface="Montserrat"/>
              </a:rPr>
              <a:t> Chatbot Web (Streamlit)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399</Words>
  <Application>Microsoft Office PowerPoint</Application>
  <PresentationFormat>Personalizado</PresentationFormat>
  <Paragraphs>52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Montserrat Semi-Bold</vt:lpstr>
      <vt:lpstr>Montserrat Bold</vt:lpstr>
      <vt:lpstr>Calibri</vt:lpstr>
      <vt:lpstr>Arial</vt:lpstr>
      <vt:lpstr>Montserrat</vt:lpstr>
      <vt:lpstr>Montserrat Ultra-Bold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NextGen Tech</dc:title>
  <cp:lastModifiedBy>QUIZHPE LEON JOSE ANDRES</cp:lastModifiedBy>
  <cp:revision>2</cp:revision>
  <dcterms:created xsi:type="dcterms:W3CDTF">2006-08-16T00:00:00Z</dcterms:created>
  <dcterms:modified xsi:type="dcterms:W3CDTF">2026-08-14T13:56:43Z</dcterms:modified>
  <dc:identifier>DAHSMHKs_gg</dc:identifier>
</cp:coreProperties>
</file>